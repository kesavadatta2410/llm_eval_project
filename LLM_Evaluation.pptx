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LLM Stress-Test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B5F6"/>
                </a:solidFill>
              </a:rPr>
              <a:t>Benchmarking GPT-2  ·  LLaMA-3  ·  FLAN-T5
across Hallucination · Reasoning · Ambiguity · Bias · Context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520440"/>
            <a:ext cx="5486400" cy="36576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03320"/>
            <a:ext cx="1463040" cy="38404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7490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GPT-2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703320"/>
            <a:ext cx="1463040" cy="384048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7490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LLaMA-3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3703320"/>
            <a:ext cx="1463040" cy="384048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7490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FLAN-T5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Natural Language Processing  |  Semester 6  |  Feb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Aim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AA23"/>
                </a:solidFill>
              </a:rPr>
              <a:t>🎯  Aim: Systematically stress-test leading LLMs to expose failure modes across five critical NLP capability dimensions.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841248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411480" cy="411480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AA23"/>
                </a:solidFill>
              </a:rPr>
              <a:t>Hallucination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48256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Measure factuality &amp; hallucination rate when models answer factual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15184"/>
            <a:ext cx="8412480" cy="868680"/>
          </a:xfrm>
          <a:prstGeom prst="rect">
            <a:avLst/>
          </a:prstGeom>
          <a:solidFill>
            <a:srgbClr val="1A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88336"/>
            <a:ext cx="411480" cy="411480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883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AA23"/>
                </a:solidFill>
              </a:rPr>
              <a:t>Reasoning &amp;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9923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Assess multi-step reasoning, word sorting, text classification, and paraphrase reasoning.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8412480" cy="868680"/>
          </a:xfrm>
          <a:prstGeom prst="rect">
            <a:avLst/>
          </a:prstGeom>
          <a:solidFill>
            <a:srgbClr val="5A2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411480" cy="411480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39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AA23"/>
                </a:solidFill>
              </a:rPr>
              <a:t>Ambiguity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5020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Evaluate ability to clarify or disambiguate semantically ambiguous inputs.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17136"/>
            <a:ext cx="8412480" cy="868680"/>
          </a:xfrm>
          <a:prstGeom prst="rect">
            <a:avLst/>
          </a:prstGeom>
          <a:solidFill>
            <a:srgbClr val="8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590288"/>
            <a:ext cx="411480" cy="411480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590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537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AA23"/>
                </a:solidFill>
              </a:rPr>
              <a:t>Bias &amp; Fairness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0118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Quantify stereotype propagation and sentiment disparity across protected attributes.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68112"/>
            <a:ext cx="8412480" cy="868680"/>
          </a:xfrm>
          <a:prstGeom prst="rect">
            <a:avLst/>
          </a:prstGeom>
          <a:solidFill>
            <a:srgbClr val="2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541264"/>
            <a:ext cx="411480" cy="411480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5412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04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AA23"/>
                </a:solidFill>
              </a:rPr>
              <a:t>Context Length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 long-context retrieval accuracy across 256 – 4096 token windows.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8595360" cy="6217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Model Performance: GPT-2  (gpt2, 117M params)</a:t>
            </a:r>
          </a:p>
        </p:txBody>
      </p:sp>
      <p:pic>
        <p:nvPicPr>
          <p:cNvPr id="5" name="Picture 4" descr="p2_reasonin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466344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33558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B5F6"/>
                </a:solidFill>
              </a:rPr>
              <a:t>Reasoning Accuracy — all models</a:t>
            </a:r>
          </a:p>
        </p:txBody>
      </p:sp>
      <p:pic>
        <p:nvPicPr>
          <p:cNvPr id="7" name="Picture 6" descr="p4_fairness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11880"/>
            <a:ext cx="466344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0990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B5F6"/>
                </a:solidFill>
              </a:rPr>
              <a:t>Bias &amp; Fairness Score — all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868680"/>
            <a:ext cx="4023360" cy="34747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886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Performance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261872"/>
            <a:ext cx="4023360" cy="384048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2984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AA23"/>
                </a:solidFill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2984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9AA23"/>
                </a:solidFill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29844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AA23"/>
                </a:solidFill>
              </a:rPr>
              <a:t>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64207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0078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0078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0.230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70078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Factuality 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2066543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1031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0.420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10312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Accuracy 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2468880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50545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Ambiguity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054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50545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Disambig. 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2871215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90779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907791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0.350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90779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Retrieval 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3337560"/>
            <a:ext cx="4023360" cy="38404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3558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⏱ ≈12.1 s  |  📊 1394 / 200 / 400 / 143 / 111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67328"/>
            <a:ext cx="4023360" cy="19202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82880" y="6281928"/>
            <a:ext cx="8778240" cy="43891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300216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9AA23"/>
                </a:solidFill>
              </a:rPr>
              <a:t>⚠ GPT-2 (base LM, no instruction tuning): Reasoning 42%, Context 35%. Low factuality (23%) — useful as failure-mode baseline.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66560"/>
            <a:ext cx="9144000" cy="7315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8595360" cy="621792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Model Performance: LLaMA-3  (Phi-3-mini substitute)</a:t>
            </a:r>
          </a:p>
        </p:txBody>
      </p:sp>
      <p:pic>
        <p:nvPicPr>
          <p:cNvPr id="5" name="Picture 4" descr="p3_disambiguation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466344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33558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B5F6"/>
                </a:solidFill>
              </a:rPr>
              <a:t>Ambiguity: Disambiguation Success</a:t>
            </a:r>
          </a:p>
        </p:txBody>
      </p:sp>
      <p:pic>
        <p:nvPicPr>
          <p:cNvPr id="7" name="Picture 6" descr="p5_retrieval_vs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11880"/>
            <a:ext cx="466344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0990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B5F6"/>
                </a:solidFill>
              </a:rPr>
              <a:t>Context: Retrieval vs Context Length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868680"/>
            <a:ext cx="4023360" cy="347472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886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Performance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261872"/>
            <a:ext cx="4023360" cy="384048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2984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AA23"/>
                </a:solidFill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2984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9AA23"/>
                </a:solidFill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29844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AA23"/>
                </a:solidFill>
              </a:rPr>
              <a:t>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64207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0078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0078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0.650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70078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Factuality 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2066543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1031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0.720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10312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Accuracy 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2468880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50545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Ambiguity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054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0.620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50545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Disambig. 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2871215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90779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907791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0.590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90779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Retrieval 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3337560"/>
            <a:ext cx="4023360" cy="38404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3558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⏱ ≈13.8 s  |  📊 200 / 235 / 200 / 148 / 61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67328"/>
            <a:ext cx="4023360" cy="19202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82880" y="6281928"/>
            <a:ext cx="8778240" cy="43891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300216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9AA23"/>
                </a:solidFill>
              </a:rPr>
              <a:t>⚡ LLaMA-3 (Phi-3-mini): Best disambiguation (62%) &amp; strong retrieval (59%). Solid reasoning at 72%.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66560"/>
            <a:ext cx="9144000" cy="73152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8595360" cy="621792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Model Performance: FLAN-T5  (google/flan-t5-base)</a:t>
            </a:r>
          </a:p>
        </p:txBody>
      </p:sp>
      <p:pic>
        <p:nvPicPr>
          <p:cNvPr id="5" name="Picture 4" descr="p1_factua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466344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33558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B5F6"/>
                </a:solidFill>
              </a:rPr>
              <a:t>Hallucination: Factuality Score</a:t>
            </a:r>
          </a:p>
        </p:txBody>
      </p:sp>
      <p:pic>
        <p:nvPicPr>
          <p:cNvPr id="7" name="Picture 6" descr="p5_position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11880"/>
            <a:ext cx="466344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09904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B5F6"/>
                </a:solidFill>
              </a:rPr>
              <a:t>Context: Accuracy by Needle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868680"/>
            <a:ext cx="4023360" cy="347472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886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Performance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261872"/>
            <a:ext cx="4023360" cy="384048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2984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AA23"/>
                </a:solidFill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2984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9AA23"/>
                </a:solidFill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29844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AA23"/>
                </a:solidFill>
              </a:rPr>
              <a:t>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64207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0078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0078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0.910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70078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Factuality 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2066543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1031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0.847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10312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Accuracy 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2468880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50545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Ambiguity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0545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0.710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50545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Disambig. 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2871215"/>
            <a:ext cx="4023360" cy="384048"/>
          </a:xfrm>
          <a:prstGeom prst="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90779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907791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0.720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90779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Retrieval 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3337560"/>
            <a:ext cx="4023360" cy="384048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3558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B5F6"/>
                </a:solidFill>
              </a:rPr>
              <a:t>⏱ ≈0.86 s  |  📊 200 / 424 / 200 / 143 / 61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67328"/>
            <a:ext cx="4023360" cy="19202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82880" y="6281928"/>
            <a:ext cx="8778240" cy="43891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300216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9AA23"/>
                </a:solidFill>
              </a:rPr>
              <a:t>✅ FLAN-T5 leads all categories — 91% factuality, 84.7% reasoning, 71% ambiguity, 72% context. Fastest at ≈0.86 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66560"/>
            <a:ext cx="9144000" cy="73152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solidFill>
            <a:srgbClr val="0F3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Conclusion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48640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06440" y="868680"/>
            <a:ext cx="3200400" cy="896112"/>
          </a:xfrm>
          <a:prstGeom prst="rect">
            <a:avLst/>
          </a:prstGeom>
          <a:solidFill>
            <a:srgbClr val="1A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90525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AA23"/>
                </a:solidFill>
              </a:rPr>
              <a:t>🥇 FLAN-T5 Best Overall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0448" y="12527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91% factuality, 84.7% reasoning, 71% disambiguation, 72% context, 99.3% fairness. Fastest at ≈0.86 s/sample.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828800"/>
            <a:ext cx="3200400" cy="896112"/>
          </a:xfrm>
          <a:prstGeom prst="rect">
            <a:avLst/>
          </a:prstGeom>
          <a:solidFill>
            <a:srgbClr val="5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0448" y="186537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AA23"/>
                </a:solidFill>
              </a:rPr>
              <a:t>🥈 LLaMA-3 Strong Specialist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21284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Top disambiguation (62%) &amp; context retrieval (59%). 72% reasoning accuracy. Slowest inference (~13.8 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788920"/>
            <a:ext cx="3200400" cy="896112"/>
          </a:xfrm>
          <a:prstGeom prst="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282549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AA23"/>
                </a:solidFill>
              </a:rPr>
              <a:t>🥉 GPT-2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317296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42% reasoning, 35% context, 23% factuality. High fairness (98.6%). Useful as a failure-mode benchmark.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3749040"/>
            <a:ext cx="3200400" cy="896112"/>
          </a:xfrm>
          <a:prstGeom prst="rect">
            <a:avLst/>
          </a:prstGeom>
          <a:solidFill>
            <a:srgbClr val="1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378561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AA23"/>
                </a:solidFill>
              </a:rPr>
              <a:t>📌 Key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41330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Instruction-tuned models outperform base LMs on every metric. FLAN-T5 ≫ GPT-2 across all 5 dimensions.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0600"/>
            <a:ext cx="8595360" cy="713232"/>
          </a:xfrm>
          <a:prstGeom prst="rect">
            <a:avLst/>
          </a:prstGeom>
          <a:solidFill>
            <a:srgbClr val="0D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828032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B5F6"/>
                </a:solidFill>
              </a:rPr>
              <a:t>Future Work:  Evaluate larger open-source models (Mistral-7B, LLaMA-3-8B) · Add multilingual stress-tests · Integrate RLHF fine-tuning to reduce hallucination · Expand context tests to 8k–32k tokens.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66560"/>
            <a:ext cx="9144000" cy="73152"/>
          </a:xfrm>
          <a:prstGeom prst="rect">
            <a:avLst/>
          </a:prstGeom>
          <a:solidFill>
            <a:srgbClr val="E9A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